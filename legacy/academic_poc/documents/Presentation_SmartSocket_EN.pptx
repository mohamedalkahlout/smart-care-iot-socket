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90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Instructor notes: Formal academic tone, include references to control systems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lecture and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these outcomes at lecture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examples and motivate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Provide realistic use-cases and data when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functional and non-functional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Wokwi schematic during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Sketch flowchart live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safety margins.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case studies or scenarios.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Propose a simple test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research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where to find files for graders.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End lecture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6994" y="758952"/>
            <a:ext cx="10055781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998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764" y="4455620"/>
            <a:ext cx="10055781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534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85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758952"/>
            <a:ext cx="10055781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998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4453128"/>
            <a:ext cx="10055781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3771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993" y="1845734"/>
            <a:ext cx="4936474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301" y="1845735"/>
            <a:ext cx="4936474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03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994" y="2582334"/>
            <a:ext cx="4936474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6301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301" y="2582334"/>
            <a:ext cx="4936474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4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900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38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04973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39019" y="0"/>
            <a:ext cx="6399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594359"/>
            <a:ext cx="3199567" cy="2286000"/>
          </a:xfrm>
        </p:spPr>
        <p:txBody>
          <a:bodyPr anchor="b">
            <a:norm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9350" y="731520"/>
            <a:ext cx="6490549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2926080"/>
            <a:ext cx="3199567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391" y="6459786"/>
            <a:ext cx="2617828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99350" y="6459786"/>
            <a:ext cx="464699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1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565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5074920"/>
            <a:ext cx="10110630" cy="822960"/>
          </a:xfrm>
        </p:spPr>
        <p:txBody>
          <a:bodyPr lIns="91440" tIns="0" rIns="91440" bIns="0" anchor="b">
            <a:no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88810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199">
                <a:solidFill>
                  <a:schemeClr val="bg1"/>
                </a:solidFill>
              </a:defRPr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994" y="5907023"/>
            <a:ext cx="1011063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27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16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414779"/>
            <a:ext cx="262821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414778"/>
            <a:ext cx="7732286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181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88826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5734"/>
            <a:ext cx="1005578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95" y="6459786"/>
            <a:ext cx="2471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5225" y="6459786"/>
            <a:ext cx="48215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880" y="6459786"/>
            <a:ext cx="1311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221" y="1737845"/>
            <a:ext cx="99643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73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126" rtl="1" eaLnBrk="1" latinLnBrk="0" hangingPunct="1">
        <a:lnSpc>
          <a:spcPct val="85000"/>
        </a:lnSpc>
        <a:spcBef>
          <a:spcPct val="0"/>
        </a:spcBef>
        <a:buNone/>
        <a:defRPr sz="4799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r" defTabSz="914126" rtl="1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3933" indent="-182825" algn="r" defTabSz="914126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758" indent="-182825" algn="r" defTabSz="914126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583" indent="-182825" algn="r" defTabSz="914126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408" indent="-182825" algn="r" defTabSz="914126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670" indent="-228531" algn="r" defTabSz="914126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610" indent="-228531" algn="r" defTabSz="914126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550" indent="-228531" algn="r" defTabSz="914126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490" indent="-228531" algn="r" defTabSz="914126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126" rtl="1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r" defTabSz="914126" rtl="1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r" defTabSz="914126" rtl="1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r" defTabSz="914126" rtl="1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r" defTabSz="914126" rtl="1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r" defTabSz="914126" rtl="1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r" defTabSz="914126" rtl="1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r" defTabSz="914126" rtl="1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r" defTabSz="914126" rtl="1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rPr b="1" dirty="0">
                <a:solidFill>
                  <a:srgbClr val="FF0000"/>
                </a:solidFill>
              </a:rPr>
              <a:t>Smart Socket </a:t>
            </a:r>
            <a:r>
              <a:rPr b="1" dirty="0" smtClean="0">
                <a:solidFill>
                  <a:srgbClr val="FF0000"/>
                </a:solidFill>
              </a:rPr>
              <a:t>Presentation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/>
            </a:pPr>
            <a:r>
              <a:rPr dirty="0">
                <a:solidFill>
                  <a:schemeClr val="tx1"/>
                </a:solidFill>
              </a:rPr>
              <a:t>University </a:t>
            </a:r>
            <a:r>
              <a:rPr dirty="0" smtClean="0">
                <a:solidFill>
                  <a:schemeClr val="tx1"/>
                </a:solidFill>
              </a:rPr>
              <a:t>: </a:t>
            </a:r>
            <a:r>
              <a:rPr dirty="0">
                <a:solidFill>
                  <a:schemeClr val="tx1"/>
                </a:solidFill>
              </a:rPr>
              <a:t>System analysis, design and validation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Prepared by: </a:t>
            </a:r>
            <a:r>
              <a:rPr sz="1600" b="1" dirty="0">
                <a:solidFill>
                  <a:schemeClr val="tx1"/>
                </a:solidFill>
              </a:rPr>
              <a:t>Mohamed </a:t>
            </a:r>
            <a:r>
              <a:rPr sz="1600" b="1" dirty="0" err="1">
                <a:solidFill>
                  <a:schemeClr val="tx1"/>
                </a:solidFill>
              </a:rPr>
              <a:t>Nael</a:t>
            </a:r>
            <a:r>
              <a:rPr sz="1600" b="1" dirty="0">
                <a:solidFill>
                  <a:schemeClr val="tx1"/>
                </a:solidFill>
              </a:rPr>
              <a:t> El </a:t>
            </a:r>
            <a:r>
              <a:rPr sz="1600" b="1" dirty="0" err="1">
                <a:solidFill>
                  <a:schemeClr val="tx1"/>
                </a:solidFill>
              </a:rPr>
              <a:t>Kahlout</a:t>
            </a:r>
            <a:r>
              <a:rPr sz="1600" b="1" dirty="0">
                <a:solidFill>
                  <a:schemeClr val="tx1"/>
                </a:solidFill>
              </a:rPr>
              <a:t> — 2041091006</a:t>
            </a:r>
            <a:r>
              <a:rPr dirty="0">
                <a:solidFill>
                  <a:schemeClr val="tx1"/>
                </a:solidFill>
              </a:rPr>
              <a:t/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Palestine Technical College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9500" y="832861"/>
            <a:ext cx="4598120" cy="4598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901536"/>
            <a:ext cx="6764482" cy="4224627"/>
          </a:xfrm>
        </p:spPr>
        <p:txBody>
          <a:bodyPr>
            <a:normAutofit/>
          </a:bodyPr>
          <a:lstStyle/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sz="2400" dirty="0"/>
              <a:t>A remote-controlled smart socket with Manual and Automatic modes based on DHT22 temperature sensor.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sz="2400" dirty="0"/>
              <a:t>Designed to enhance user safety, save energy, and reduce fire risk during extreme seasons.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sz="2400" dirty="0" err="1"/>
              <a:t>Realtime</a:t>
            </a:r>
            <a:r>
              <a:rPr sz="2400" dirty="0"/>
              <a:t> synchronization </a:t>
            </a:r>
            <a:r>
              <a:rPr sz="2400" dirty="0" smtClean="0"/>
              <a:t>via </a:t>
            </a:r>
            <a:r>
              <a:rPr sz="2400" dirty="0"/>
              <a:t>Firebase </a:t>
            </a:r>
            <a:r>
              <a:rPr sz="2400" dirty="0" err="1"/>
              <a:t>Realtime</a:t>
            </a:r>
            <a:r>
              <a:rPr sz="2400" dirty="0"/>
              <a:t> Database for monitoring and control.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5591" y="888277"/>
            <a:ext cx="4775490" cy="47754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1536"/>
            <a:ext cx="6442364" cy="4224627"/>
          </a:xfrm>
        </p:spPr>
        <p:txBody>
          <a:bodyPr>
            <a:normAutofit/>
          </a:bodyPr>
          <a:lstStyle/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sz="2400" dirty="0"/>
              <a:t>Understand sensor-based control logic and system design.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sz="2400" dirty="0"/>
              <a:t>Learn how to integrate ESP32 with Firebase for </a:t>
            </a:r>
            <a:r>
              <a:rPr sz="2400" dirty="0" err="1"/>
              <a:t>realtime</a:t>
            </a:r>
            <a:r>
              <a:rPr sz="2400" dirty="0"/>
              <a:t> data exchange.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sz="2400" dirty="0"/>
              <a:t>Apply best practices for reducing network traffic and ensuring safety.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803" y="1600200"/>
            <a:ext cx="4333009" cy="433300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94" y="1953490"/>
            <a:ext cx="10055781" cy="3915603"/>
          </a:xfrm>
        </p:spPr>
        <p:txBody>
          <a:bodyPr/>
          <a:lstStyle/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Unsupervised heating/cooling devices can cause health risks and fire hazards.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Inefficient energy consumption without remote monitoring and control.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A need for a simple, low-cost protective system for household appliances.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8311" y="3086100"/>
            <a:ext cx="3057453" cy="30574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Significance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94" y="1845734"/>
            <a:ext cx="6727361" cy="4023360"/>
          </a:xfrm>
        </p:spPr>
        <p:txBody>
          <a:bodyPr/>
          <a:lstStyle/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Protect children and elderly from extreme temperature exposure.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Reduce electricity bills by avoiding unnecessary operation of appliances.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Lower fire risk from unattended heaters and improve appliance lifetime.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Enable preventive maintenance through logs and anomaly detection.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002" y="2101350"/>
            <a:ext cx="3512127" cy="35121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System Objectives &amp;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36618"/>
            <a:ext cx="6619009" cy="4089545"/>
          </a:xfrm>
        </p:spPr>
        <p:txBody>
          <a:bodyPr>
            <a:normAutofit/>
          </a:bodyPr>
          <a:lstStyle/>
          <a:p>
            <a:pPr algn="l" rtl="0">
              <a:buFont typeface="Wingdings" panose="05000000000000000000" pitchFamily="2" charset="2"/>
              <a:buChar char="Ø"/>
              <a:defRPr sz="2000"/>
            </a:pPr>
            <a:r>
              <a:rPr sz="2400" dirty="0"/>
              <a:t>Remote ON/OFF control of an electrical outlet.</a:t>
            </a:r>
          </a:p>
          <a:p>
            <a:pPr algn="l" rtl="0">
              <a:buFont typeface="Wingdings" panose="05000000000000000000" pitchFamily="2" charset="2"/>
              <a:buChar char="Ø"/>
              <a:defRPr sz="2000"/>
            </a:pPr>
            <a:r>
              <a:rPr sz="2400" dirty="0"/>
              <a:t>Two operation modes: Manual and Automatic with user-selectable thresholds.</a:t>
            </a:r>
          </a:p>
          <a:p>
            <a:pPr algn="l" rtl="0">
              <a:buFont typeface="Wingdings" panose="05000000000000000000" pitchFamily="2" charset="2"/>
              <a:buChar char="Ø"/>
              <a:defRPr sz="2000"/>
            </a:pPr>
            <a:r>
              <a:rPr sz="2400" dirty="0" err="1"/>
              <a:t>Realtime</a:t>
            </a:r>
            <a:r>
              <a:rPr sz="2400" dirty="0"/>
              <a:t> data storage on Firebase and a web dashboard for control.</a:t>
            </a:r>
          </a:p>
          <a:p>
            <a:pPr algn="l" rtl="0">
              <a:buFont typeface="Wingdings" panose="05000000000000000000" pitchFamily="2" charset="2"/>
              <a:buChar char="Ø"/>
              <a:defRPr sz="2000"/>
            </a:pPr>
            <a:r>
              <a:rPr sz="2400" dirty="0"/>
              <a:t>Safety measures: </a:t>
            </a:r>
            <a:r>
              <a:rPr sz="2400" dirty="0" err="1"/>
              <a:t>debounce</a:t>
            </a:r>
            <a:r>
              <a:rPr sz="2400" dirty="0"/>
              <a:t>, polarity detection, and failure handling.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4276" y="2189019"/>
            <a:ext cx="3810000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94" y="2514600"/>
            <a:ext cx="6093515" cy="3354494"/>
          </a:xfrm>
        </p:spPr>
        <p:txBody>
          <a:bodyPr/>
          <a:lstStyle/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ESP32 microcontroller (Wi-Fi capable).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DHT22 temperature/humidity sensor.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Relay module for switching the load.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Power supply and safety components (fuse, grounding).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0171" y="1600200"/>
            <a:ext cx="4545302" cy="45453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Software Architecture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94" y="1845734"/>
            <a:ext cx="7465115" cy="4023360"/>
          </a:xfrm>
        </p:spPr>
        <p:txBody>
          <a:bodyPr/>
          <a:lstStyle/>
          <a:p>
            <a:pPr algn="l" rtl="0">
              <a:buFont typeface="Wingdings" panose="05000000000000000000" pitchFamily="2" charset="2"/>
              <a:buChar char="Ø"/>
              <a:defRPr sz="2000"/>
            </a:pPr>
            <a:r>
              <a:rPr dirty="0"/>
              <a:t>Connect to Wi-Fi, then GET socket1.json from Firebase to read mode and thresholds.</a:t>
            </a:r>
          </a:p>
          <a:p>
            <a:pPr algn="l" rtl="0">
              <a:buFont typeface="Wingdings" panose="05000000000000000000" pitchFamily="2" charset="2"/>
              <a:buChar char="Ø"/>
              <a:defRPr sz="2000"/>
            </a:pPr>
            <a:r>
              <a:rPr dirty="0"/>
              <a:t>Manual mode: apply status field from DB (on/off).</a:t>
            </a:r>
          </a:p>
          <a:p>
            <a:pPr algn="l" rtl="0">
              <a:buFont typeface="Wingdings" panose="05000000000000000000" pitchFamily="2" charset="2"/>
              <a:buChar char="Ø"/>
              <a:defRPr sz="2000"/>
            </a:pPr>
            <a:r>
              <a:rPr dirty="0"/>
              <a:t>Auto mode: read DHT22 and compare </a:t>
            </a:r>
            <a:r>
              <a:rPr dirty="0" err="1"/>
              <a:t>CurrentTemp</a:t>
            </a:r>
            <a:r>
              <a:rPr dirty="0"/>
              <a:t> to min/max to decide relay state.</a:t>
            </a:r>
          </a:p>
          <a:p>
            <a:pPr algn="l" rtl="0">
              <a:buFont typeface="Wingdings" panose="05000000000000000000" pitchFamily="2" charset="2"/>
              <a:buChar char="Ø"/>
              <a:defRPr sz="2000"/>
            </a:pPr>
            <a:r>
              <a:rPr dirty="0"/>
              <a:t>PUT updates to DB only when state changes; send temp only on significant change (Δ &gt;= 0.2°C).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109" y="2247942"/>
            <a:ext cx="3218944" cy="32189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Sensor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94" y="1995054"/>
            <a:ext cx="10055781" cy="3874039"/>
          </a:xfrm>
        </p:spPr>
        <p:txBody>
          <a:bodyPr/>
          <a:lstStyle/>
          <a:p>
            <a:pPr algn="l" rtl="0">
              <a:buFont typeface="Wingdings" panose="05000000000000000000" pitchFamily="2" charset="2"/>
              <a:buChar char="§"/>
              <a:defRPr sz="2000"/>
            </a:pPr>
            <a:r>
              <a:rPr dirty="0"/>
              <a:t>Condition: if </a:t>
            </a:r>
            <a:r>
              <a:rPr dirty="0" err="1"/>
              <a:t>minTemp</a:t>
            </a:r>
            <a:r>
              <a:rPr dirty="0"/>
              <a:t> &lt; </a:t>
            </a:r>
            <a:r>
              <a:rPr dirty="0" err="1"/>
              <a:t>currentTemp</a:t>
            </a:r>
            <a:r>
              <a:rPr dirty="0"/>
              <a:t> &lt; </a:t>
            </a:r>
            <a:r>
              <a:rPr dirty="0" err="1"/>
              <a:t>maxTemp</a:t>
            </a:r>
            <a:r>
              <a:rPr dirty="0"/>
              <a:t> → Relay = ON</a:t>
            </a:r>
          </a:p>
          <a:p>
            <a:pPr algn="l" rtl="0">
              <a:buFont typeface="Wingdings" panose="05000000000000000000" pitchFamily="2" charset="2"/>
              <a:buChar char="§"/>
              <a:defRPr sz="2000"/>
            </a:pPr>
            <a:r>
              <a:rPr dirty="0"/>
              <a:t>Else → Relay = OFF</a:t>
            </a:r>
          </a:p>
          <a:p>
            <a:pPr algn="l" rtl="0">
              <a:buFont typeface="Wingdings" panose="05000000000000000000" pitchFamily="2" charset="2"/>
              <a:buChar char="§"/>
              <a:defRPr sz="2000"/>
            </a:pPr>
            <a:r>
              <a:rPr dirty="0"/>
              <a:t>Recommend hysteresis to avoid rapid toggling around thresholds.</a:t>
            </a:r>
          </a:p>
          <a:p>
            <a:pPr algn="l" rtl="0">
              <a:buFont typeface="Wingdings" panose="05000000000000000000" pitchFamily="2" charset="2"/>
              <a:buChar char="§"/>
              <a:defRPr sz="2000"/>
            </a:pPr>
            <a:r>
              <a:rPr dirty="0"/>
              <a:t>Current default values from project export: {</a:t>
            </a:r>
            <a:br>
              <a:rPr dirty="0"/>
            </a:br>
            <a:r>
              <a:rPr dirty="0"/>
              <a:t>  "</a:t>
            </a:r>
            <a:r>
              <a:rPr dirty="0" err="1"/>
              <a:t>currentTemp</a:t>
            </a:r>
            <a:r>
              <a:rPr dirty="0"/>
              <a:t>": 25.6,</a:t>
            </a:r>
            <a:br>
              <a:rPr dirty="0"/>
            </a:br>
            <a:r>
              <a:rPr dirty="0"/>
              <a:t>  "</a:t>
            </a:r>
            <a:r>
              <a:rPr dirty="0" err="1"/>
              <a:t>maxTemp</a:t>
            </a:r>
            <a:r>
              <a:rPr dirty="0"/>
              <a:t>": 30,</a:t>
            </a:r>
            <a:br>
              <a:rPr dirty="0"/>
            </a:br>
            <a:r>
              <a:rPr dirty="0"/>
              <a:t>  "</a:t>
            </a:r>
            <a:r>
              <a:rPr dirty="0" err="1"/>
              <a:t>minTemp</a:t>
            </a:r>
            <a:r>
              <a:rPr dirty="0"/>
              <a:t>": 20,</a:t>
            </a:r>
            <a:br>
              <a:rPr dirty="0"/>
            </a:br>
            <a:r>
              <a:rPr dirty="0"/>
              <a:t>  "mode": "manual",</a:t>
            </a:r>
            <a:br>
              <a:rPr dirty="0"/>
            </a:br>
            <a:r>
              <a:rPr dirty="0"/>
              <a:t>  "status": "off"</a:t>
            </a:r>
            <a:br>
              <a:rPr dirty="0"/>
            </a:br>
            <a:r>
              <a:rPr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rgbClr val="FF0000"/>
                </a:solidFill>
              </a:rPr>
              <a:t>Protective Use-Cases (Summer/Winter)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7954"/>
            <a:ext cx="5725391" cy="3834245"/>
          </a:xfrm>
        </p:spPr>
        <p:txBody>
          <a:bodyPr/>
          <a:lstStyle/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Summer: prevent overcooling and health issues from excessive AC operation.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Winter: avoid prolonged exposure to cold for infants by automating heaters appropriately.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Reduce circuit overload by avoiding simultaneous heavy-load devices.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Mitigate risks of fire or gas-related incidents with unattended heaters.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5427" y="1906587"/>
            <a:ext cx="4265612" cy="42656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Algorithm</a:t>
            </a:r>
            <a:r>
              <a:rPr dirty="0"/>
              <a:t> (Pseudo-code)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17173"/>
            <a:ext cx="7523018" cy="3808990"/>
          </a:xfrm>
        </p:spPr>
        <p:txBody>
          <a:bodyPr>
            <a:normAutofit/>
          </a:bodyPr>
          <a:lstStyle/>
          <a:p>
            <a:pPr algn="l" rtl="0">
              <a:defRPr sz="1400"/>
            </a:pPr>
            <a:r>
              <a:rPr sz="2000" dirty="0"/>
              <a:t>loop():</a:t>
            </a:r>
            <a:br>
              <a:rPr sz="2000" dirty="0"/>
            </a:br>
            <a:r>
              <a:rPr sz="2000" dirty="0"/>
              <a:t>  data = HTTP GET (Firebase/socket1.json)</a:t>
            </a:r>
            <a:br>
              <a:rPr sz="2000" dirty="0"/>
            </a:br>
            <a:r>
              <a:rPr sz="2000" dirty="0"/>
              <a:t>  if </a:t>
            </a:r>
            <a:r>
              <a:rPr sz="2000" dirty="0" err="1"/>
              <a:t>data.mode</a:t>
            </a:r>
            <a:r>
              <a:rPr sz="2000" dirty="0"/>
              <a:t> == "manual":</a:t>
            </a:r>
            <a:br>
              <a:rPr sz="2000" dirty="0"/>
            </a:br>
            <a:r>
              <a:rPr sz="2000" dirty="0"/>
              <a:t>    if </a:t>
            </a:r>
            <a:r>
              <a:rPr sz="2000" dirty="0" err="1"/>
              <a:t>data.status</a:t>
            </a:r>
            <a:r>
              <a:rPr sz="2000" dirty="0"/>
              <a:t> == "on": </a:t>
            </a:r>
            <a:r>
              <a:rPr sz="2000" dirty="0" err="1"/>
              <a:t>setRelayStateIfChanged</a:t>
            </a:r>
            <a:r>
              <a:rPr sz="2000" dirty="0"/>
              <a:t>("on")</a:t>
            </a:r>
            <a:br>
              <a:rPr sz="2000" dirty="0"/>
            </a:br>
            <a:r>
              <a:rPr sz="2000" dirty="0"/>
              <a:t>    else: </a:t>
            </a:r>
            <a:r>
              <a:rPr sz="2000" dirty="0" err="1"/>
              <a:t>setRelayStateIfChanged</a:t>
            </a:r>
            <a:r>
              <a:rPr sz="2000" dirty="0"/>
              <a:t>("off")</a:t>
            </a:r>
            <a:br>
              <a:rPr sz="2000" dirty="0"/>
            </a:br>
            <a:r>
              <a:rPr sz="2000" dirty="0"/>
              <a:t>  else:  # auto</a:t>
            </a:r>
            <a:br>
              <a:rPr sz="2000" dirty="0"/>
            </a:br>
            <a:r>
              <a:rPr sz="2000" dirty="0"/>
              <a:t>    temp = </a:t>
            </a:r>
            <a:r>
              <a:rPr sz="2000" dirty="0" err="1"/>
              <a:t>dht.readTemperature</a:t>
            </a:r>
            <a:r>
              <a:rPr sz="2000" dirty="0"/>
              <a:t>()</a:t>
            </a:r>
            <a:br>
              <a:rPr sz="2000" dirty="0"/>
            </a:br>
            <a:r>
              <a:rPr sz="2000" dirty="0"/>
              <a:t>    if </a:t>
            </a:r>
            <a:r>
              <a:rPr sz="2000" dirty="0" err="1"/>
              <a:t>minTemp</a:t>
            </a:r>
            <a:r>
              <a:rPr sz="2000" dirty="0"/>
              <a:t> &lt; temp &lt; </a:t>
            </a:r>
            <a:r>
              <a:rPr sz="2000" dirty="0" err="1"/>
              <a:t>maxTemp</a:t>
            </a:r>
            <a:r>
              <a:rPr sz="2000" dirty="0"/>
              <a:t>: </a:t>
            </a:r>
            <a:r>
              <a:rPr sz="2000" dirty="0" err="1"/>
              <a:t>setRelayStateIfChanged</a:t>
            </a:r>
            <a:r>
              <a:rPr sz="2000" dirty="0"/>
              <a:t>("on")</a:t>
            </a:r>
            <a:br>
              <a:rPr sz="2000" dirty="0"/>
            </a:br>
            <a:r>
              <a:rPr sz="2000" dirty="0"/>
              <a:t>    else: </a:t>
            </a:r>
            <a:r>
              <a:rPr sz="2000" dirty="0" err="1"/>
              <a:t>setRelayStateIfChanged</a:t>
            </a:r>
            <a:r>
              <a:rPr sz="2000" dirty="0"/>
              <a:t>("off")</a:t>
            </a:r>
            <a:br>
              <a:rPr sz="2000" dirty="0"/>
            </a:br>
            <a:r>
              <a:rPr sz="2000" dirty="0"/>
              <a:t>  send </a:t>
            </a:r>
            <a:r>
              <a:rPr sz="2000" dirty="0" err="1"/>
              <a:t>currentTemp</a:t>
            </a:r>
            <a:r>
              <a:rPr sz="2000" dirty="0"/>
              <a:t> to DB only if |temp - </a:t>
            </a:r>
            <a:r>
              <a:rPr sz="2000" dirty="0" err="1"/>
              <a:t>lastSent</a:t>
            </a:r>
            <a:r>
              <a:rPr sz="2000" dirty="0"/>
              <a:t>| &gt;= 0.2</a:t>
            </a:r>
            <a:br>
              <a:rPr sz="2000" dirty="0"/>
            </a:b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Code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94" y="2379518"/>
            <a:ext cx="10055781" cy="3489576"/>
          </a:xfrm>
        </p:spPr>
        <p:txBody>
          <a:bodyPr>
            <a:normAutofit/>
          </a:bodyPr>
          <a:lstStyle/>
          <a:p>
            <a:pPr algn="l" rtl="0">
              <a:buFont typeface="Wingdings" panose="05000000000000000000" pitchFamily="2" charset="2"/>
              <a:buChar char="v"/>
              <a:defRPr sz="1600"/>
            </a:pPr>
            <a:r>
              <a:rPr sz="2400" dirty="0" err="1"/>
              <a:t>httpGETRequest</a:t>
            </a:r>
            <a:r>
              <a:rPr sz="2400" dirty="0"/>
              <a:t>(</a:t>
            </a:r>
            <a:r>
              <a:rPr sz="2400" dirty="0" err="1"/>
              <a:t>url</a:t>
            </a:r>
            <a:r>
              <a:rPr sz="2400" dirty="0"/>
              <a:t>) and </a:t>
            </a:r>
            <a:r>
              <a:rPr sz="2400" dirty="0" err="1"/>
              <a:t>httpPUTRequest</a:t>
            </a:r>
            <a:r>
              <a:rPr sz="2400" dirty="0"/>
              <a:t>(</a:t>
            </a:r>
            <a:r>
              <a:rPr sz="2400" dirty="0" err="1"/>
              <a:t>url</a:t>
            </a:r>
            <a:r>
              <a:rPr sz="2400" dirty="0"/>
              <a:t>, payload) — HTTP helpers for Firebase</a:t>
            </a:r>
          </a:p>
          <a:p>
            <a:pPr algn="l" rtl="0">
              <a:buFont typeface="Wingdings" panose="05000000000000000000" pitchFamily="2" charset="2"/>
              <a:buChar char="v"/>
              <a:defRPr sz="1600"/>
            </a:pPr>
            <a:r>
              <a:rPr sz="2400" dirty="0" err="1"/>
              <a:t>setRelayStateIfChanged</a:t>
            </a:r>
            <a:r>
              <a:rPr sz="2400" dirty="0"/>
              <a:t>("on"/"off") — writes to relay, updates DB on change</a:t>
            </a:r>
          </a:p>
          <a:p>
            <a:pPr algn="l" rtl="0">
              <a:buFont typeface="Wingdings" panose="05000000000000000000" pitchFamily="2" charset="2"/>
              <a:buChar char="v"/>
              <a:defRPr sz="1600"/>
            </a:pPr>
            <a:r>
              <a:rPr sz="2400" dirty="0"/>
              <a:t>Automatic decision in loop(): temp -&gt; compare with min/max -&gt; apply relay</a:t>
            </a:r>
          </a:p>
          <a:p>
            <a:pPr algn="l" rtl="0">
              <a:buFont typeface="Wingdings" panose="05000000000000000000" pitchFamily="2" charset="2"/>
              <a:buChar char="v"/>
              <a:defRPr sz="1600"/>
            </a:pPr>
            <a:r>
              <a:rPr sz="2400" dirty="0"/>
              <a:t>Reduce DB writes by sending temp only on meaningful change (Δ &gt;= 0.2°C)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Validation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95" y="2400300"/>
            <a:ext cx="6696188" cy="3468794"/>
          </a:xfrm>
        </p:spPr>
        <p:txBody>
          <a:bodyPr/>
          <a:lstStyle/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Simulate on </a:t>
            </a:r>
            <a:r>
              <a:rPr dirty="0" err="1"/>
              <a:t>Wokwi</a:t>
            </a:r>
            <a:r>
              <a:rPr dirty="0"/>
              <a:t> and monitor Serial output for DHT readings and relay state.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Test transitions (Manual &lt;-&gt; Auto) and threshold changes from dashboard.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Test behavior on sensor failure and network loss scenarios.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703" y="2230582"/>
            <a:ext cx="3810000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95" y="1845734"/>
            <a:ext cx="6675406" cy="4023360"/>
          </a:xfrm>
        </p:spPr>
        <p:txBody>
          <a:bodyPr/>
          <a:lstStyle/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HTTP-based polling could be replaced with MQTT for efficiency.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Implement authentication and secure rules on Firebase.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Add current sensing, power metering, and notification channels (SMS/Email).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5611" y="2334491"/>
            <a:ext cx="3810000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Project Files &amp;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62645"/>
            <a:ext cx="6307282" cy="3663518"/>
          </a:xfrm>
        </p:spPr>
        <p:txBody>
          <a:bodyPr>
            <a:normAutofit/>
          </a:bodyPr>
          <a:lstStyle/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sz="2800" dirty="0"/>
              <a:t>Included: </a:t>
            </a:r>
            <a:r>
              <a:rPr sz="2800" dirty="0" err="1"/>
              <a:t>sketch.ino</a:t>
            </a:r>
            <a:r>
              <a:rPr sz="2800" dirty="0"/>
              <a:t>, </a:t>
            </a:r>
            <a:r>
              <a:rPr sz="2800" dirty="0" err="1"/>
              <a:t>diagram.json</a:t>
            </a:r>
            <a:r>
              <a:rPr sz="2800" dirty="0"/>
              <a:t> (</a:t>
            </a:r>
            <a:r>
              <a:rPr sz="2800" dirty="0" err="1"/>
              <a:t>Wokwi</a:t>
            </a:r>
            <a:r>
              <a:rPr sz="2800" dirty="0"/>
              <a:t>), index.html (dashboard), README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sz="2800" dirty="0"/>
              <a:t>Deliverable: PPTX (this lecture), demo video, project archive (Drive links)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5136" y="2098099"/>
            <a:ext cx="4016230" cy="40162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0000"/>
                </a:solidFill>
              </a:rPr>
              <a:t>Conclusion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995" y="2421082"/>
            <a:ext cx="5740224" cy="3448012"/>
          </a:xfrm>
        </p:spPr>
        <p:txBody>
          <a:bodyPr/>
          <a:lstStyle/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A practical, extendable system aimed at safety and energy efficiency.</a:t>
            </a:r>
          </a:p>
          <a:p>
            <a:pPr algn="l" rtl="0">
              <a:buFont typeface="Wingdings" panose="05000000000000000000" pitchFamily="2" charset="2"/>
              <a:buChar char="v"/>
              <a:defRPr sz="2000"/>
            </a:pPr>
            <a:r>
              <a:rPr dirty="0"/>
              <a:t>Open for questions and discussion about control strategies and enhancements.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776" y="1944542"/>
            <a:ext cx="3678382" cy="36783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25</TotalTime>
  <Words>685</Words>
  <Application>Microsoft Office PowerPoint</Application>
  <PresentationFormat>Custom</PresentationFormat>
  <Paragraphs>79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Calibri Light</vt:lpstr>
      <vt:lpstr>Wingdings</vt:lpstr>
      <vt:lpstr>Retrospect</vt:lpstr>
      <vt:lpstr>Smart Socket Presentation</vt:lpstr>
      <vt:lpstr>Abstract</vt:lpstr>
      <vt:lpstr>Learning Outcomes</vt:lpstr>
      <vt:lpstr>Problem Statement</vt:lpstr>
      <vt:lpstr>Significance &amp; Motivation</vt:lpstr>
      <vt:lpstr>System Objectives &amp; Requirements</vt:lpstr>
      <vt:lpstr>Hardware Components</vt:lpstr>
      <vt:lpstr>Software Architecture &amp; Flow</vt:lpstr>
      <vt:lpstr>Sensor Logic</vt:lpstr>
      <vt:lpstr>Protective Use-Cases (Summer/Winter)</vt:lpstr>
      <vt:lpstr>Algorithm (Pseudo-code)</vt:lpstr>
      <vt:lpstr>Code Highlights</vt:lpstr>
      <vt:lpstr>Validation &amp; Testing</vt:lpstr>
      <vt:lpstr>Limitations &amp; Future Work</vt:lpstr>
      <vt:lpstr>Project Files &amp; Delivery</vt:lpstr>
      <vt:lpstr>Conclusion &amp;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Socket — Presentation</dc:title>
  <dc:subject/>
  <dc:creator/>
  <cp:keywords/>
  <dc:description>generated using python-pptx</dc:description>
  <cp:lastModifiedBy>HP</cp:lastModifiedBy>
  <cp:revision>4</cp:revision>
  <dcterms:created xsi:type="dcterms:W3CDTF">2013-01-27T09:14:16Z</dcterms:created>
  <dcterms:modified xsi:type="dcterms:W3CDTF">2025-08-18T11:37:12Z</dcterms:modified>
  <cp:category/>
</cp:coreProperties>
</file>